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 id="268" r:id="rId14"/>
    <p:sldId id="269" r:id="rId15"/>
    <p:sldId id="270" r:id="rId16"/>
    <p:sldId id="271"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6DAAD-6689-FDFF-6634-A81F202D797C}" v="53" dt="2026-08-18T10:39:14.887"/>
    <p1510:client id="{B4613515-B910-68C8-7D55-5DCBE309F1F9}" v="47" dt="2026-08-18T09:28:16.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C0233-DB97-4712-A127-6B28A46B3659}" type="doc">
      <dgm:prSet loTypeId="urn:microsoft.com/office/officeart/2018/2/layout/IconVerticalSolidList" loCatId="icon" qsTypeId="urn:microsoft.com/office/officeart/2005/8/quickstyle/simple1#10" qsCatId="simple" csTypeId="urn:microsoft.com/office/officeart/2018/5/colors/Iconchunking_neutralbg_colorful1" csCatId="colorful" phldr="1"/>
      <dgm:spPr/>
      <dgm:t>
        <a:bodyPr/>
        <a:lstStyle/>
        <a:p>
          <a:endParaRPr lang="en-US"/>
        </a:p>
      </dgm:t>
    </dgm:pt>
    <dgm:pt modelId="{79CB67BA-B58D-40AE-B0EB-80BDC79EEE72}">
      <dgm:prSet/>
      <dgm:spPr/>
      <dgm:t>
        <a:bodyPr/>
        <a:lstStyle/>
        <a:p>
          <a:r>
            <a:rPr lang="en-GB"/>
            <a:t>Every Monday, I check a dozen sites for analytics, pricing, and competitor updates. I automated this using </a:t>
          </a:r>
          <a:r>
            <a:rPr lang="en-GB" b="1"/>
            <a:t>BeautifulSoup</a:t>
          </a:r>
          <a:r>
            <a:rPr lang="en-GB"/>
            <a:t> for scraping and </a:t>
          </a:r>
          <a:r>
            <a:rPr lang="en-GB" b="1"/>
            <a:t>Jinja2</a:t>
          </a:r>
          <a:r>
            <a:rPr lang="en-GB"/>
            <a:t> for templated reports.</a:t>
          </a:r>
          <a:endParaRPr lang="en-US"/>
        </a:p>
      </dgm:t>
    </dgm:pt>
    <dgm:pt modelId="{F938964E-60DA-4BC8-8DC2-B75A9D062E17}" type="parTrans" cxnId="{3569F125-750C-4CD8-B3A3-6B44CD275193}">
      <dgm:prSet/>
      <dgm:spPr/>
      <dgm:t>
        <a:bodyPr/>
        <a:lstStyle/>
        <a:p>
          <a:endParaRPr lang="en-US"/>
        </a:p>
      </dgm:t>
    </dgm:pt>
    <dgm:pt modelId="{FE753FA8-A678-424B-ABA2-1C03682462F9}" type="sibTrans" cxnId="{3569F125-750C-4CD8-B3A3-6B44CD275193}">
      <dgm:prSet/>
      <dgm:spPr/>
      <dgm:t>
        <a:bodyPr/>
        <a:lstStyle/>
        <a:p>
          <a:endParaRPr lang="en-US"/>
        </a:p>
      </dgm:t>
    </dgm:pt>
    <dgm:pt modelId="{1E66F864-40BC-4985-9C47-BE105CF692C8}">
      <dgm:prSet/>
      <dgm:spPr/>
      <dgm:t>
        <a:bodyPr/>
        <a:lstStyle/>
        <a:p>
          <a:r>
            <a:rPr lang="en-GB"/>
            <a:t>Later, I extended it with </a:t>
          </a:r>
          <a:r>
            <a:rPr lang="en-GB" b="1"/>
            <a:t>Matplotlib</a:t>
          </a:r>
          <a:r>
            <a:rPr lang="en-GB"/>
            <a:t> for charts and scheduled it via a cron job, emailing the result with </a:t>
          </a:r>
          <a:r>
            <a:rPr lang="en-GB" b="1"/>
            <a:t>smtplib</a:t>
          </a:r>
          <a:r>
            <a:rPr lang="en-GB"/>
            <a:t>.</a:t>
          </a:r>
          <a:endParaRPr lang="en-US"/>
        </a:p>
      </dgm:t>
    </dgm:pt>
    <dgm:pt modelId="{FCAFB20B-E415-44B8-8AC9-57227D146773}" type="parTrans" cxnId="{EFB17E4A-7699-4CE3-9ABA-BFA8D45A6B79}">
      <dgm:prSet/>
      <dgm:spPr/>
      <dgm:t>
        <a:bodyPr/>
        <a:lstStyle/>
        <a:p>
          <a:endParaRPr lang="en-US"/>
        </a:p>
      </dgm:t>
    </dgm:pt>
    <dgm:pt modelId="{EDFEF710-C7DD-4B3C-8C94-8B5F9B98C5C2}" type="sibTrans" cxnId="{EFB17E4A-7699-4CE3-9ABA-BFA8D45A6B79}">
      <dgm:prSet/>
      <dgm:spPr/>
      <dgm:t>
        <a:bodyPr/>
        <a:lstStyle/>
        <a:p>
          <a:endParaRPr lang="en-US"/>
        </a:p>
      </dgm:t>
    </dgm:pt>
    <dgm:pt modelId="{63AAC5AC-F476-4CC6-9BD0-DF7FA0BF9ECE}" type="pres">
      <dgm:prSet presAssocID="{2FDC0233-DB97-4712-A127-6B28A46B3659}" presName="root" presStyleCnt="0">
        <dgm:presLayoutVars>
          <dgm:dir/>
          <dgm:resizeHandles val="exact"/>
        </dgm:presLayoutVars>
      </dgm:prSet>
      <dgm:spPr/>
    </dgm:pt>
    <dgm:pt modelId="{DCD14EA8-FF33-4165-BF1E-7936A839569B}" type="pres">
      <dgm:prSet presAssocID="{79CB67BA-B58D-40AE-B0EB-80BDC79EEE72}" presName="compNode" presStyleCnt="0"/>
      <dgm:spPr/>
    </dgm:pt>
    <dgm:pt modelId="{9695EF65-6E1A-4889-B7F8-645ACD09407E}" type="pres">
      <dgm:prSet presAssocID="{79CB67BA-B58D-40AE-B0EB-80BDC79EEE72}" presName="bgRect" presStyleLbl="bgShp" presStyleIdx="0" presStyleCnt="2"/>
      <dgm:spPr/>
    </dgm:pt>
    <dgm:pt modelId="{6BDB0673-BA3F-49D1-BF95-535BE7217621}" type="pres">
      <dgm:prSet presAssocID="{79CB67BA-B58D-40AE-B0EB-80BDC79EEE7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arm scene"/>
        </a:ext>
      </dgm:extLst>
    </dgm:pt>
    <dgm:pt modelId="{919B4D51-1F0E-4CE5-B3D3-1F54CE499FE7}" type="pres">
      <dgm:prSet presAssocID="{79CB67BA-B58D-40AE-B0EB-80BDC79EEE72}" presName="spaceRect" presStyleCnt="0"/>
      <dgm:spPr/>
    </dgm:pt>
    <dgm:pt modelId="{2F36B39D-AE98-4B8C-87AE-4FEE4945FD9C}" type="pres">
      <dgm:prSet presAssocID="{79CB67BA-B58D-40AE-B0EB-80BDC79EEE72}" presName="parTx" presStyleLbl="revTx" presStyleIdx="0" presStyleCnt="2">
        <dgm:presLayoutVars>
          <dgm:chMax val="0"/>
          <dgm:chPref val="0"/>
        </dgm:presLayoutVars>
      </dgm:prSet>
      <dgm:spPr/>
    </dgm:pt>
    <dgm:pt modelId="{DC9EB85F-B340-4724-BBAB-E8094DB4373C}" type="pres">
      <dgm:prSet presAssocID="{FE753FA8-A678-424B-ABA2-1C03682462F9}" presName="sibTrans" presStyleCnt="0"/>
      <dgm:spPr/>
    </dgm:pt>
    <dgm:pt modelId="{8A4D8D9E-8833-4B94-8899-FF0753F4ED54}" type="pres">
      <dgm:prSet presAssocID="{1E66F864-40BC-4985-9C47-BE105CF692C8}" presName="compNode" presStyleCnt="0"/>
      <dgm:spPr/>
    </dgm:pt>
    <dgm:pt modelId="{A585E047-FEF9-4044-92C6-603EFFE98A26}" type="pres">
      <dgm:prSet presAssocID="{1E66F864-40BC-4985-9C47-BE105CF692C8}" presName="bgRect" presStyleLbl="bgShp" presStyleIdx="1" presStyleCnt="2"/>
      <dgm:spPr/>
    </dgm:pt>
    <dgm:pt modelId="{B1A6C6E3-18F8-46F6-A837-92CF5C33C89C}" type="pres">
      <dgm:prSet presAssocID="{1E66F864-40BC-4985-9C47-BE105CF692C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velope"/>
        </a:ext>
      </dgm:extLst>
    </dgm:pt>
    <dgm:pt modelId="{DA3B3E79-25C4-45F8-9EC1-FA6DF07C6EE7}" type="pres">
      <dgm:prSet presAssocID="{1E66F864-40BC-4985-9C47-BE105CF692C8}" presName="spaceRect" presStyleCnt="0"/>
      <dgm:spPr/>
    </dgm:pt>
    <dgm:pt modelId="{86212B14-B98C-4C52-BB72-5E84AED19DAE}" type="pres">
      <dgm:prSet presAssocID="{1E66F864-40BC-4985-9C47-BE105CF692C8}" presName="parTx" presStyleLbl="revTx" presStyleIdx="1" presStyleCnt="2">
        <dgm:presLayoutVars>
          <dgm:chMax val="0"/>
          <dgm:chPref val="0"/>
        </dgm:presLayoutVars>
      </dgm:prSet>
      <dgm:spPr/>
    </dgm:pt>
  </dgm:ptLst>
  <dgm:cxnLst>
    <dgm:cxn modelId="{3569F125-750C-4CD8-B3A3-6B44CD275193}" srcId="{2FDC0233-DB97-4712-A127-6B28A46B3659}" destId="{79CB67BA-B58D-40AE-B0EB-80BDC79EEE72}" srcOrd="0" destOrd="0" parTransId="{F938964E-60DA-4BC8-8DC2-B75A9D062E17}" sibTransId="{FE753FA8-A678-424B-ABA2-1C03682462F9}"/>
    <dgm:cxn modelId="{EFB17E4A-7699-4CE3-9ABA-BFA8D45A6B79}" srcId="{2FDC0233-DB97-4712-A127-6B28A46B3659}" destId="{1E66F864-40BC-4985-9C47-BE105CF692C8}" srcOrd="1" destOrd="0" parTransId="{FCAFB20B-E415-44B8-8AC9-57227D146773}" sibTransId="{EDFEF710-C7DD-4B3C-8C94-8B5F9B98C5C2}"/>
    <dgm:cxn modelId="{E1028E4F-B6BA-4EFC-B9F6-B791C1CFF70C}" type="presOf" srcId="{2FDC0233-DB97-4712-A127-6B28A46B3659}" destId="{63AAC5AC-F476-4CC6-9BD0-DF7FA0BF9ECE}" srcOrd="0" destOrd="0" presId="urn:microsoft.com/office/officeart/2018/2/layout/IconVerticalSolidList"/>
    <dgm:cxn modelId="{0C5A19D5-79E8-4429-820C-2EC7A9EE793D}" type="presOf" srcId="{79CB67BA-B58D-40AE-B0EB-80BDC79EEE72}" destId="{2F36B39D-AE98-4B8C-87AE-4FEE4945FD9C}" srcOrd="0" destOrd="0" presId="urn:microsoft.com/office/officeart/2018/2/layout/IconVerticalSolidList"/>
    <dgm:cxn modelId="{F5D835D5-DB52-49DA-80A2-CEBFCE8C8EB6}" type="presOf" srcId="{1E66F864-40BC-4985-9C47-BE105CF692C8}" destId="{86212B14-B98C-4C52-BB72-5E84AED19DAE}" srcOrd="0" destOrd="0" presId="urn:microsoft.com/office/officeart/2018/2/layout/IconVerticalSolidList"/>
    <dgm:cxn modelId="{9CC8838E-C292-4A33-B280-692CF8E3A59D}" type="presParOf" srcId="{63AAC5AC-F476-4CC6-9BD0-DF7FA0BF9ECE}" destId="{DCD14EA8-FF33-4165-BF1E-7936A839569B}" srcOrd="0" destOrd="0" presId="urn:microsoft.com/office/officeart/2018/2/layout/IconVerticalSolidList"/>
    <dgm:cxn modelId="{CD522423-D02F-4B6C-B9E5-C5B171C753B7}" type="presParOf" srcId="{DCD14EA8-FF33-4165-BF1E-7936A839569B}" destId="{9695EF65-6E1A-4889-B7F8-645ACD09407E}" srcOrd="0" destOrd="0" presId="urn:microsoft.com/office/officeart/2018/2/layout/IconVerticalSolidList"/>
    <dgm:cxn modelId="{B1BAD6D6-CC91-403E-AADB-536A2AF063A7}" type="presParOf" srcId="{DCD14EA8-FF33-4165-BF1E-7936A839569B}" destId="{6BDB0673-BA3F-49D1-BF95-535BE7217621}" srcOrd="1" destOrd="0" presId="urn:microsoft.com/office/officeart/2018/2/layout/IconVerticalSolidList"/>
    <dgm:cxn modelId="{EB88F4D4-81B9-4006-BE47-9A8F746305AB}" type="presParOf" srcId="{DCD14EA8-FF33-4165-BF1E-7936A839569B}" destId="{919B4D51-1F0E-4CE5-B3D3-1F54CE499FE7}" srcOrd="2" destOrd="0" presId="urn:microsoft.com/office/officeart/2018/2/layout/IconVerticalSolidList"/>
    <dgm:cxn modelId="{E6E5FF94-3B00-40E3-A646-4568E841AE3B}" type="presParOf" srcId="{DCD14EA8-FF33-4165-BF1E-7936A839569B}" destId="{2F36B39D-AE98-4B8C-87AE-4FEE4945FD9C}" srcOrd="3" destOrd="0" presId="urn:microsoft.com/office/officeart/2018/2/layout/IconVerticalSolidList"/>
    <dgm:cxn modelId="{2F205F71-F1B4-4C23-BF00-E46CA5CB2EA7}" type="presParOf" srcId="{63AAC5AC-F476-4CC6-9BD0-DF7FA0BF9ECE}" destId="{DC9EB85F-B340-4724-BBAB-E8094DB4373C}" srcOrd="1" destOrd="0" presId="urn:microsoft.com/office/officeart/2018/2/layout/IconVerticalSolidList"/>
    <dgm:cxn modelId="{A32AE82E-7ECA-49F9-B6FC-E0969126A67D}" type="presParOf" srcId="{63AAC5AC-F476-4CC6-9BD0-DF7FA0BF9ECE}" destId="{8A4D8D9E-8833-4B94-8899-FF0753F4ED54}" srcOrd="2" destOrd="0" presId="urn:microsoft.com/office/officeart/2018/2/layout/IconVerticalSolidList"/>
    <dgm:cxn modelId="{4ACF83FF-42A9-460F-98B1-929475E78C11}" type="presParOf" srcId="{8A4D8D9E-8833-4B94-8899-FF0753F4ED54}" destId="{A585E047-FEF9-4044-92C6-603EFFE98A26}" srcOrd="0" destOrd="0" presId="urn:microsoft.com/office/officeart/2018/2/layout/IconVerticalSolidList"/>
    <dgm:cxn modelId="{E22104DD-BC75-445B-B98A-4DA5E5DF3B3A}" type="presParOf" srcId="{8A4D8D9E-8833-4B94-8899-FF0753F4ED54}" destId="{B1A6C6E3-18F8-46F6-A837-92CF5C33C89C}" srcOrd="1" destOrd="0" presId="urn:microsoft.com/office/officeart/2018/2/layout/IconVerticalSolidList"/>
    <dgm:cxn modelId="{DC4D6242-BDD8-462F-8C8F-225D95D23E4A}" type="presParOf" srcId="{8A4D8D9E-8833-4B94-8899-FF0753F4ED54}" destId="{DA3B3E79-25C4-45F8-9EC1-FA6DF07C6EE7}" srcOrd="2" destOrd="0" presId="urn:microsoft.com/office/officeart/2018/2/layout/IconVerticalSolidList"/>
    <dgm:cxn modelId="{69EDB9D4-A770-4E77-82EF-8477288FB3FC}" type="presParOf" srcId="{8A4D8D9E-8833-4B94-8899-FF0753F4ED54}" destId="{86212B14-B98C-4C52-BB72-5E84AED19DA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95EF65-6E1A-4889-B7F8-645ACD09407E}">
      <dsp:nvSpPr>
        <dsp:cNvPr id="0" name=""/>
        <dsp:cNvSpPr/>
      </dsp:nvSpPr>
      <dsp:spPr>
        <a:xfrm>
          <a:off x="0" y="646191"/>
          <a:ext cx="11502135" cy="11929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DB0673-BA3F-49D1-BF95-535BE7217621}">
      <dsp:nvSpPr>
        <dsp:cNvPr id="0" name=""/>
        <dsp:cNvSpPr/>
      </dsp:nvSpPr>
      <dsp:spPr>
        <a:xfrm>
          <a:off x="360872" y="914609"/>
          <a:ext cx="656132" cy="65613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36B39D-AE98-4B8C-87AE-4FEE4945FD9C}">
      <dsp:nvSpPr>
        <dsp:cNvPr id="0" name=""/>
        <dsp:cNvSpPr/>
      </dsp:nvSpPr>
      <dsp:spPr>
        <a:xfrm>
          <a:off x="1377878" y="646191"/>
          <a:ext cx="10124256" cy="119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56" tIns="126256" rIns="126256" bIns="126256" numCol="1" spcCol="1270" anchor="ctr" anchorCtr="0">
          <a:noAutofit/>
        </a:bodyPr>
        <a:lstStyle/>
        <a:p>
          <a:pPr marL="0" lvl="0" indent="0" algn="l" defTabSz="977900">
            <a:lnSpc>
              <a:spcPct val="90000"/>
            </a:lnSpc>
            <a:spcBef>
              <a:spcPct val="0"/>
            </a:spcBef>
            <a:spcAft>
              <a:spcPct val="35000"/>
            </a:spcAft>
            <a:buNone/>
          </a:pPr>
          <a:r>
            <a:rPr lang="en-GB" sz="2200" kern="1200"/>
            <a:t>Every Monday, I check a dozen sites for analytics, pricing, and competitor updates. I automated this using </a:t>
          </a:r>
          <a:r>
            <a:rPr lang="en-GB" sz="2200" b="1" kern="1200"/>
            <a:t>BeautifulSoup</a:t>
          </a:r>
          <a:r>
            <a:rPr lang="en-GB" sz="2200" kern="1200"/>
            <a:t> for scraping and </a:t>
          </a:r>
          <a:r>
            <a:rPr lang="en-GB" sz="2200" b="1" kern="1200"/>
            <a:t>Jinja2</a:t>
          </a:r>
          <a:r>
            <a:rPr lang="en-GB" sz="2200" kern="1200"/>
            <a:t> for templated reports.</a:t>
          </a:r>
          <a:endParaRPr lang="en-US" sz="2200" kern="1200"/>
        </a:p>
      </dsp:txBody>
      <dsp:txXfrm>
        <a:off x="1377878" y="646191"/>
        <a:ext cx="10124256" cy="1192968"/>
      </dsp:txXfrm>
    </dsp:sp>
    <dsp:sp modelId="{A585E047-FEF9-4044-92C6-603EFFE98A26}">
      <dsp:nvSpPr>
        <dsp:cNvPr id="0" name=""/>
        <dsp:cNvSpPr/>
      </dsp:nvSpPr>
      <dsp:spPr>
        <a:xfrm>
          <a:off x="0" y="2137401"/>
          <a:ext cx="11502135" cy="11929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A6C6E3-18F8-46F6-A837-92CF5C33C89C}">
      <dsp:nvSpPr>
        <dsp:cNvPr id="0" name=""/>
        <dsp:cNvSpPr/>
      </dsp:nvSpPr>
      <dsp:spPr>
        <a:xfrm>
          <a:off x="360872" y="2405819"/>
          <a:ext cx="656132" cy="65613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212B14-B98C-4C52-BB72-5E84AED19DAE}">
      <dsp:nvSpPr>
        <dsp:cNvPr id="0" name=""/>
        <dsp:cNvSpPr/>
      </dsp:nvSpPr>
      <dsp:spPr>
        <a:xfrm>
          <a:off x="1377878" y="2137401"/>
          <a:ext cx="10124256" cy="119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56" tIns="126256" rIns="126256" bIns="126256" numCol="1" spcCol="1270" anchor="ctr" anchorCtr="0">
          <a:noAutofit/>
        </a:bodyPr>
        <a:lstStyle/>
        <a:p>
          <a:pPr marL="0" lvl="0" indent="0" algn="l" defTabSz="977900">
            <a:lnSpc>
              <a:spcPct val="90000"/>
            </a:lnSpc>
            <a:spcBef>
              <a:spcPct val="0"/>
            </a:spcBef>
            <a:spcAft>
              <a:spcPct val="35000"/>
            </a:spcAft>
            <a:buNone/>
          </a:pPr>
          <a:r>
            <a:rPr lang="en-GB" sz="2200" kern="1200"/>
            <a:t>Later, I extended it with </a:t>
          </a:r>
          <a:r>
            <a:rPr lang="en-GB" sz="2200" b="1" kern="1200"/>
            <a:t>Matplotlib</a:t>
          </a:r>
          <a:r>
            <a:rPr lang="en-GB" sz="2200" kern="1200"/>
            <a:t> for charts and scheduled it via a cron job, emailing the result with </a:t>
          </a:r>
          <a:r>
            <a:rPr lang="en-GB" sz="2200" b="1" kern="1200"/>
            <a:t>smtplib</a:t>
          </a:r>
          <a:r>
            <a:rPr lang="en-GB" sz="2200" kern="1200"/>
            <a:t>.</a:t>
          </a:r>
          <a:endParaRPr lang="en-US" sz="2200" kern="1200"/>
        </a:p>
      </dsp:txBody>
      <dsp:txXfrm>
        <a:off x="1377878" y="2137401"/>
        <a:ext cx="10124256" cy="11929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8/19/2026</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21721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8/19/2026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123129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8/19/2026</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675398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8/19/2026</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10669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8/19/2026</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65791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8/19/2026</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98992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8/19/2026</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229607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8/19/2026</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196456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8/19/2026</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87030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8/19/2026</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092046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8/19/2026</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01132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8/19/2026</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3431861452"/>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0" r:id="rId6"/>
    <p:sldLayoutId id="2147483736" r:id="rId7"/>
    <p:sldLayoutId id="2147483737" r:id="rId8"/>
    <p:sldLayoutId id="2147483738" r:id="rId9"/>
    <p:sldLayoutId id="2147483739" r:id="rId10"/>
    <p:sldLayoutId id="2147483741"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43" name="Picture 42">
            <a:extLst>
              <a:ext uri="{FF2B5EF4-FFF2-40B4-BE49-F238E27FC236}">
                <a16:creationId xmlns:a16="http://schemas.microsoft.com/office/drawing/2014/main" id="{B779CFB0-3BBA-6AEF-3E89-AB1BE4AF90A5}"/>
              </a:ext>
            </a:extLst>
          </p:cNvPr>
          <p:cNvPicPr>
            <a:picLocks noChangeAspect="1"/>
          </p:cNvPicPr>
          <p:nvPr/>
        </p:nvPicPr>
        <p:blipFill>
          <a:blip r:embed="rId2">
            <a:alphaModFix amt="30000"/>
          </a:blip>
          <a:srcRect t="29651" r="6" b="6"/>
          <a:stretch>
            <a:fillRect/>
          </a:stretch>
        </p:blipFill>
        <p:spPr>
          <a:xfrm>
            <a:off x="20" y="10"/>
            <a:ext cx="12188932" cy="6857990"/>
          </a:xfrm>
          <a:prstGeom prst="rect">
            <a:avLst/>
          </a:prstGeom>
        </p:spPr>
      </p:pic>
      <p:grpSp>
        <p:nvGrpSpPr>
          <p:cNvPr id="13" name="Group 12">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186949" y="3522133"/>
            <a:ext cx="7974719" cy="2288382"/>
          </a:xfrm>
        </p:spPr>
        <p:txBody>
          <a:bodyPr>
            <a:normAutofit/>
          </a:bodyPr>
          <a:lstStyle/>
          <a:p>
            <a:r>
              <a:rPr lang="en-GB">
                <a:solidFill>
                  <a:schemeClr val="tx2"/>
                </a:solidFill>
                <a:ea typeface="+mj-lt"/>
                <a:cs typeface="+mj-lt"/>
              </a:rPr>
              <a:t>Automating Workflows with Python and AI</a:t>
            </a:r>
            <a:endParaRPr lang="en-US">
              <a:solidFill>
                <a:schemeClr val="tx2"/>
              </a:solidFill>
            </a:endParaRPr>
          </a:p>
        </p:txBody>
      </p:sp>
      <p:sp>
        <p:nvSpPr>
          <p:cNvPr id="3" name="Subtitle 2"/>
          <p:cNvSpPr>
            <a:spLocks noGrp="1"/>
          </p:cNvSpPr>
          <p:nvPr>
            <p:ph type="subTitle" idx="1"/>
          </p:nvPr>
        </p:nvSpPr>
        <p:spPr>
          <a:xfrm>
            <a:off x="2186949" y="725465"/>
            <a:ext cx="7974719" cy="2796668"/>
          </a:xfrm>
        </p:spPr>
        <p:txBody>
          <a:bodyPr anchor="b">
            <a:normAutofit/>
          </a:bodyPr>
          <a:lstStyle/>
          <a:p>
            <a:endParaRPr lang="en-GB">
              <a:solidFill>
                <a:schemeClr val="tx2"/>
              </a:solidFill>
            </a:endParaRPr>
          </a:p>
        </p:txBody>
      </p:sp>
      <p:sp>
        <p:nvSpPr>
          <p:cNvPr id="44" name="Right Triangle 43">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5012" y="-284145"/>
            <a:ext cx="568289" cy="568289"/>
          </a:xfrm>
          <a:prstGeom prst="rtTriangle">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Freeform: Shape 45">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8" name="Group 47">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79" name="Rectangle 7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4" name="Content Placeholder 3">
            <a:extLst>
              <a:ext uri="{FF2B5EF4-FFF2-40B4-BE49-F238E27FC236}">
                <a16:creationId xmlns:a16="http://schemas.microsoft.com/office/drawing/2014/main" id="{422EDB25-D926-DE3C-9DD9-6FC1B1D57AFC}"/>
              </a:ext>
            </a:extLst>
          </p:cNvPr>
          <p:cNvPicPr>
            <a:picLocks noGrp="1" noChangeAspect="1"/>
          </p:cNvPicPr>
          <p:nvPr>
            <p:ph idx="1"/>
          </p:nvPr>
        </p:nvPicPr>
        <p:blipFill>
          <a:blip r:embed="rId2"/>
          <a:srcRect t="442"/>
          <a:stretch>
            <a:fillRect/>
          </a:stretch>
        </p:blipFill>
        <p:spPr>
          <a:xfrm>
            <a:off x="20" y="10"/>
            <a:ext cx="12191980" cy="6857989"/>
          </a:xfrm>
          <a:prstGeom prst="rect">
            <a:avLst/>
          </a:prstGeom>
        </p:spPr>
      </p:pic>
      <p:grpSp>
        <p:nvGrpSpPr>
          <p:cNvPr id="81" name="Group 80">
            <a:extLst>
              <a:ext uri="{FF2B5EF4-FFF2-40B4-BE49-F238E27FC236}">
                <a16:creationId xmlns:a16="http://schemas.microsoft.com/office/drawing/2014/main" id="{20C61190-C3C6-470C-AD7E-DE1774D3B8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FBA79076-09E2-42F2-AB53-2AC97BBF9E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6EFE7B6-A678-4080-8095-C35AC6E627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F819F03-C610-41AD-8191-AA9D0505B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C3F4891-5EFC-4D18-A624-398BDF1CA0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B7416C3-B1E9-4255-96DF-4E177FC3E1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7C17DC8-7DA5-4B05-966A-FB28DD8722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CE5E79-B59D-401A-BCC0-2D95B96A6C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3BD0973-E146-44AE-8BD5-665926060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0B00FB7-2DA7-477B-8D71-0F3C3442F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B9C836F-E0FA-4F43-8595-37B03CFFB7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56D2723-3E4D-48B1-A6D2-1A24F3DA37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E33C010-3B40-4B74-AFED-9A12421E80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5A24DA-3AD1-4146-9C36-1FF666EDB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C312543-C4C1-48AB-A32C-CEBC259771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3B4AB31-8C5A-4150-95D6-D57F6C25CB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2D04B4EB-7F4A-4631-8A31-10795C50E1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1F7E2406-347A-4008-A837-B169329A8B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3A29D85-8791-40DE-8AC1-55E01EF5FB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5456E209-65A9-41F0-95CA-06832E2C62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48FBE92-306C-410A-A46C-78FA64751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DEEC058-0746-4C6F-B438-432F7C5BB6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05675A2-165F-45F4-B82A-CADDAC635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7B04075-3949-4CE8-BC5D-8CC7C69B4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2095348-F370-432D-AB24-DF01B3569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0338639-8676-4CBD-A1C3-38D647AC94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CD5D49-5B76-4AC2-AC0F-021E858B67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F0315B3-012B-4122-9034-0EA1ED049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7F3B018-21CC-4BB8-B439-99AEF58B1F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0B51FB9-22BD-46DF-BE69-B2A00DA04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12" name="Rectangle 111">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8A47CC-785A-735F-3023-0179DAF6CE3B}"/>
              </a:ext>
            </a:extLst>
          </p:cNvPr>
          <p:cNvSpPr>
            <a:spLocks noGrp="1"/>
          </p:cNvSpPr>
          <p:nvPr>
            <p:ph type="title"/>
          </p:nvPr>
        </p:nvSpPr>
        <p:spPr>
          <a:xfrm>
            <a:off x="1524000" y="728905"/>
            <a:ext cx="9144000" cy="3184274"/>
          </a:xfrm>
        </p:spPr>
        <p:txBody>
          <a:bodyPr vert="horz" lIns="91440" tIns="45720" rIns="91440" bIns="45720" rtlCol="0" anchor="b">
            <a:normAutofit/>
          </a:bodyPr>
          <a:lstStyle/>
          <a:p>
            <a:pPr algn="ctr"/>
            <a:endParaRPr lang="en-US" sz="5400"/>
          </a:p>
        </p:txBody>
      </p:sp>
    </p:spTree>
    <p:extLst>
      <p:ext uri="{BB962C8B-B14F-4D97-AF65-F5344CB8AC3E}">
        <p14:creationId xmlns:p14="http://schemas.microsoft.com/office/powerpoint/2010/main" val="1877970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4" name="Group 13">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Freeform: Shape 44">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7" name="Freeform: Shape 46">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9" name="Rectangle 48">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51" name="Group 50">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2" name="Straight Connector 51">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2" name="Freeform: Shape 81">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4" name="Group 83">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5" name="Straight Connector 84">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5" name="Rectangle 114">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95AD374E-E6EB-4F34-968E-2D6FA466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9" name="Group 118">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20" name="Straight Connector 119">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7" name="Content Placeholder 6">
            <a:extLst>
              <a:ext uri="{FF2B5EF4-FFF2-40B4-BE49-F238E27FC236}">
                <a16:creationId xmlns:a16="http://schemas.microsoft.com/office/drawing/2014/main" id="{D03EA44C-2E8A-71EA-A7B8-39CCECB0D4FD}"/>
              </a:ext>
            </a:extLst>
          </p:cNvPr>
          <p:cNvPicPr>
            <a:picLocks noGrp="1" noChangeAspect="1"/>
          </p:cNvPicPr>
          <p:nvPr>
            <p:ph idx="1"/>
          </p:nvPr>
        </p:nvPicPr>
        <p:blipFill>
          <a:blip r:embed="rId2"/>
          <a:srcRect t="5899" r="-1" b="806"/>
          <a:stretch>
            <a:fillRect/>
          </a:stretch>
        </p:blipFill>
        <p:spPr>
          <a:xfrm>
            <a:off x="-6331" y="-6350"/>
            <a:ext cx="12188952" cy="6424896"/>
          </a:xfrm>
          <a:custGeom>
            <a:avLst/>
            <a:gdLst/>
            <a:ahLst/>
            <a:cxnLst/>
            <a:rect l="l" t="t" r="r" b="b"/>
            <a:pathLst>
              <a:path w="12205236" h="6424896">
                <a:moveTo>
                  <a:pt x="0" y="0"/>
                </a:moveTo>
                <a:lnTo>
                  <a:pt x="12205236" y="0"/>
                </a:lnTo>
                <a:lnTo>
                  <a:pt x="12205236" y="5218929"/>
                </a:lnTo>
                <a:cubicBezTo>
                  <a:pt x="6290213" y="5218929"/>
                  <a:pt x="6105369" y="7085096"/>
                  <a:pt x="548482" y="6174545"/>
                </a:cubicBezTo>
                <a:lnTo>
                  <a:pt x="0" y="6078725"/>
                </a:lnTo>
                <a:close/>
              </a:path>
            </a:pathLst>
          </a:custGeom>
        </p:spPr>
      </p:pic>
    </p:spTree>
    <p:extLst>
      <p:ext uri="{BB962C8B-B14F-4D97-AF65-F5344CB8AC3E}">
        <p14:creationId xmlns:p14="http://schemas.microsoft.com/office/powerpoint/2010/main" val="222116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A0DFB7FD-55EB-BBB3-FD74-667DE87B987A}"/>
              </a:ext>
            </a:extLst>
          </p:cNvPr>
          <p:cNvPicPr>
            <a:picLocks noGrp="1" noChangeAspect="1"/>
          </p:cNvPicPr>
          <p:nvPr>
            <p:ph idx="1"/>
          </p:nvPr>
        </p:nvPicPr>
        <p:blipFill>
          <a:blip r:embed="rId2"/>
          <a:srcRect r="-1" b="1249"/>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2455903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6D4DCC58-8522-B053-340B-762BD14846F4}"/>
              </a:ext>
            </a:extLst>
          </p:cNvPr>
          <p:cNvPicPr>
            <a:picLocks noGrp="1" noChangeAspect="1"/>
          </p:cNvPicPr>
          <p:nvPr>
            <p:ph idx="1"/>
          </p:nvPr>
        </p:nvPicPr>
        <p:blipFill>
          <a:blip r:embed="rId2"/>
          <a:srcRect t="2127" r="-1" b="-1"/>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3634070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26C00EC8-C23B-42C0-B72B-A96C15788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6" name="Group 115">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7" name="Straight Connector 116">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90B842C4-8C07-8BE1-EB00-1D5890F42F3B}"/>
              </a:ext>
            </a:extLst>
          </p:cNvPr>
          <p:cNvPicPr>
            <a:picLocks noGrp="1" noChangeAspect="1"/>
          </p:cNvPicPr>
          <p:nvPr>
            <p:ph idx="1"/>
          </p:nvPr>
        </p:nvPicPr>
        <p:blipFill>
          <a:blip r:embed="rId2"/>
          <a:srcRect r="191"/>
          <a:stretch>
            <a:fillRect/>
          </a:stretch>
        </p:blipFill>
        <p:spPr>
          <a:xfrm>
            <a:off x="-9379" y="10"/>
            <a:ext cx="12168757" cy="6857990"/>
          </a:xfrm>
          <a:custGeom>
            <a:avLst/>
            <a:gdLst/>
            <a:ahLst/>
            <a:cxnLst/>
            <a:rect l="l" t="t" r="r" b="b"/>
            <a:pathLst>
              <a:path w="12142767" h="6858000">
                <a:moveTo>
                  <a:pt x="0" y="0"/>
                </a:moveTo>
                <a:lnTo>
                  <a:pt x="11251490" y="0"/>
                </a:lnTo>
                <a:lnTo>
                  <a:pt x="11255634" y="308191"/>
                </a:lnTo>
                <a:cubicBezTo>
                  <a:pt x="11341049" y="3428907"/>
                  <a:pt x="12695043" y="3532715"/>
                  <a:pt x="11886084" y="6854559"/>
                </a:cubicBezTo>
                <a:lnTo>
                  <a:pt x="7539784" y="6854559"/>
                </a:lnTo>
                <a:lnTo>
                  <a:pt x="7539784" y="6858000"/>
                </a:lnTo>
                <a:lnTo>
                  <a:pt x="0" y="6858000"/>
                </a:lnTo>
                <a:close/>
              </a:path>
            </a:pathLst>
          </a:custGeom>
        </p:spPr>
      </p:pic>
    </p:spTree>
    <p:extLst>
      <p:ext uri="{BB962C8B-B14F-4D97-AF65-F5344CB8AC3E}">
        <p14:creationId xmlns:p14="http://schemas.microsoft.com/office/powerpoint/2010/main" val="779679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F8FDA192-7B0D-E5B3-FD81-F017AD14EA98}"/>
              </a:ext>
            </a:extLst>
          </p:cNvPr>
          <p:cNvPicPr>
            <a:picLocks noGrp="1" noChangeAspect="1"/>
          </p:cNvPicPr>
          <p:nvPr>
            <p:ph idx="1"/>
          </p:nvPr>
        </p:nvPicPr>
        <p:blipFill>
          <a:blip r:embed="rId2"/>
          <a:srcRect t="2127" r="-1" b="-1"/>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2556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413CC0A3-0AD9-F42A-2533-0D217746BCF6}"/>
              </a:ext>
            </a:extLst>
          </p:cNvPr>
          <p:cNvPicPr>
            <a:picLocks noGrp="1" noChangeAspect="1"/>
          </p:cNvPicPr>
          <p:nvPr>
            <p:ph idx="1"/>
          </p:nvPr>
        </p:nvPicPr>
        <p:blipFill>
          <a:blip r:embed="rId2"/>
          <a:srcRect t="2560" r="-1" b="-1"/>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313107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D322D121-8EBE-1AAB-B38C-D1D062311EA5}"/>
              </a:ext>
            </a:extLst>
          </p:cNvPr>
          <p:cNvPicPr>
            <a:picLocks noGrp="1" noChangeAspect="1"/>
          </p:cNvPicPr>
          <p:nvPr>
            <p:ph idx="1"/>
          </p:nvPr>
        </p:nvPicPr>
        <p:blipFill>
          <a:blip r:embed="rId2"/>
          <a:srcRect t="2560" r="-1" b="-1"/>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76333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Freeform: Shape 45">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8" name="Group 47">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79" name="Rectangle 7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5" name="Picture 4" descr="The word brainstorming engraved in a metal">
            <a:extLst>
              <a:ext uri="{FF2B5EF4-FFF2-40B4-BE49-F238E27FC236}">
                <a16:creationId xmlns:a16="http://schemas.microsoft.com/office/drawing/2014/main" id="{5AF860AD-22FD-D933-B996-D443CB9406EC}"/>
              </a:ext>
            </a:extLst>
          </p:cNvPr>
          <p:cNvPicPr>
            <a:picLocks noChangeAspect="1"/>
          </p:cNvPicPr>
          <p:nvPr/>
        </p:nvPicPr>
        <p:blipFill>
          <a:blip r:embed="rId2"/>
          <a:srcRect t="4376" r="-2" b="11227"/>
          <a:stretch>
            <a:fillRect/>
          </a:stretch>
        </p:blipFill>
        <p:spPr>
          <a:xfrm>
            <a:off x="20" y="10"/>
            <a:ext cx="12191980" cy="6857989"/>
          </a:xfrm>
          <a:prstGeom prst="rect">
            <a:avLst/>
          </a:prstGeom>
        </p:spPr>
      </p:pic>
      <p:grpSp>
        <p:nvGrpSpPr>
          <p:cNvPr id="81" name="Group 80">
            <a:extLst>
              <a:ext uri="{FF2B5EF4-FFF2-40B4-BE49-F238E27FC236}">
                <a16:creationId xmlns:a16="http://schemas.microsoft.com/office/drawing/2014/main" id="{20C61190-C3C6-470C-AD7E-DE1774D3B8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FBA79076-09E2-42F2-AB53-2AC97BBF9E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6EFE7B6-A678-4080-8095-C35AC6E627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F819F03-C610-41AD-8191-AA9D0505B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C3F4891-5EFC-4D18-A624-398BDF1CA0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B7416C3-B1E9-4255-96DF-4E177FC3E1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7C17DC8-7DA5-4B05-966A-FB28DD8722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CE5E79-B59D-401A-BCC0-2D95B96A6C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3BD0973-E146-44AE-8BD5-665926060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0B00FB7-2DA7-477B-8D71-0F3C3442F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B9C836F-E0FA-4F43-8595-37B03CFFB7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56D2723-3E4D-48B1-A6D2-1A24F3DA37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E33C010-3B40-4B74-AFED-9A12421E80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5A24DA-3AD1-4146-9C36-1FF666EDB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C312543-C4C1-48AB-A32C-CEBC259771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3B4AB31-8C5A-4150-95D6-D57F6C25CB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2D04B4EB-7F4A-4631-8A31-10795C50E1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1F7E2406-347A-4008-A837-B169329A8B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3A29D85-8791-40DE-8AC1-55E01EF5FB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5456E209-65A9-41F0-95CA-06832E2C62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48FBE92-306C-410A-A46C-78FA64751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DEEC058-0746-4C6F-B438-432F7C5BB6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05675A2-165F-45F4-B82A-CADDAC635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7B04075-3949-4CE8-BC5D-8CC7C69B4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2095348-F370-432D-AB24-DF01B3569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0338639-8676-4CBD-A1C3-38D647AC94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CD5D49-5B76-4AC2-AC0F-021E858B67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F0315B3-012B-4122-9034-0EA1ED049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7F3B018-21CC-4BB8-B439-99AEF58B1F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0B51FB9-22BD-46DF-BE69-B2A00DA04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12" name="Rectangle 111">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A2CF2B-5781-FFCA-EB92-4B4EE19192ED}"/>
              </a:ext>
            </a:extLst>
          </p:cNvPr>
          <p:cNvSpPr>
            <a:spLocks noGrp="1"/>
          </p:cNvSpPr>
          <p:nvPr>
            <p:ph type="title"/>
          </p:nvPr>
        </p:nvSpPr>
        <p:spPr>
          <a:xfrm>
            <a:off x="1524000" y="728905"/>
            <a:ext cx="9144000" cy="3184274"/>
          </a:xfrm>
        </p:spPr>
        <p:txBody>
          <a:bodyPr vert="horz" lIns="91440" tIns="45720" rIns="91440" bIns="45720" rtlCol="0" anchor="b">
            <a:normAutofit/>
          </a:bodyPr>
          <a:lstStyle/>
          <a:p>
            <a:pPr algn="ctr"/>
            <a:r>
              <a:rPr lang="en-US" sz="5400"/>
              <a:t>Automation Examples</a:t>
            </a:r>
          </a:p>
        </p:txBody>
      </p:sp>
    </p:spTree>
    <p:extLst>
      <p:ext uri="{BB962C8B-B14F-4D97-AF65-F5344CB8AC3E}">
        <p14:creationId xmlns:p14="http://schemas.microsoft.com/office/powerpoint/2010/main" val="288276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AC6219-D863-49A8-7449-AC3626863350}"/>
              </a:ext>
            </a:extLst>
          </p:cNvPr>
          <p:cNvSpPr>
            <a:spLocks noGrp="1"/>
          </p:cNvSpPr>
          <p:nvPr>
            <p:ph type="title"/>
          </p:nvPr>
        </p:nvSpPr>
        <p:spPr>
          <a:xfrm>
            <a:off x="5791200" y="732348"/>
            <a:ext cx="5410199" cy="2240735"/>
          </a:xfrm>
        </p:spPr>
        <p:txBody>
          <a:bodyPr>
            <a:normAutofit/>
          </a:bodyPr>
          <a:lstStyle/>
          <a:p>
            <a:pPr marL="228600" indent="-228600">
              <a:spcBef>
                <a:spcPts val="1000"/>
              </a:spcBef>
            </a:pPr>
            <a:r>
              <a:rPr lang="en-GB" sz="3700" b="1">
                <a:solidFill>
                  <a:schemeClr val="tx2"/>
                </a:solidFill>
                <a:highlight>
                  <a:srgbClr val="FFFFFF"/>
                </a:highlight>
                <a:latin typeface="Avenir Next LT Pro"/>
              </a:rPr>
              <a:t>Example 1: Automating Email Sorting and Responses with NLP</a:t>
            </a:r>
            <a:endParaRPr lang="en-GB" sz="3700">
              <a:solidFill>
                <a:schemeClr val="tx2"/>
              </a:solidFill>
              <a:latin typeface="Avenir Next LT Pro"/>
            </a:endParaRPr>
          </a:p>
          <a:p>
            <a:endParaRPr lang="en-GB" sz="3700">
              <a:solidFill>
                <a:schemeClr val="tx2"/>
              </a:solidFill>
              <a:cs typeface="Posterama"/>
            </a:endParaRPr>
          </a:p>
        </p:txBody>
      </p:sp>
      <p:pic>
        <p:nvPicPr>
          <p:cNvPr id="7" name="Graphic 6" descr="Open envelope">
            <a:extLst>
              <a:ext uri="{FF2B5EF4-FFF2-40B4-BE49-F238E27FC236}">
                <a16:creationId xmlns:a16="http://schemas.microsoft.com/office/drawing/2014/main" id="{E1ACD51F-10BF-4058-2C77-58BE0A45E0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222" y="978211"/>
            <a:ext cx="5009616" cy="5009616"/>
          </a:xfrm>
          <a:prstGeom prst="rect">
            <a:avLst/>
          </a:prstGeom>
        </p:spPr>
      </p:pic>
      <p:sp>
        <p:nvSpPr>
          <p:cNvPr id="3" name="Content Placeholder 2">
            <a:extLst>
              <a:ext uri="{FF2B5EF4-FFF2-40B4-BE49-F238E27FC236}">
                <a16:creationId xmlns:a16="http://schemas.microsoft.com/office/drawing/2014/main" id="{7E7ECF3C-11F0-5FAD-2016-DA395FAE1F6F}"/>
              </a:ext>
            </a:extLst>
          </p:cNvPr>
          <p:cNvSpPr>
            <a:spLocks noGrp="1"/>
          </p:cNvSpPr>
          <p:nvPr>
            <p:ph idx="1"/>
          </p:nvPr>
        </p:nvSpPr>
        <p:spPr>
          <a:xfrm>
            <a:off x="5791200" y="3264832"/>
            <a:ext cx="5410199" cy="2980124"/>
          </a:xfrm>
        </p:spPr>
        <p:txBody>
          <a:bodyPr vert="horz" lIns="91440" tIns="45720" rIns="91440" bIns="45720" rtlCol="0" anchor="t">
            <a:normAutofit/>
          </a:bodyPr>
          <a:lstStyle/>
          <a:p>
            <a:pPr>
              <a:lnSpc>
                <a:spcPct val="100000"/>
              </a:lnSpc>
            </a:pPr>
            <a:r>
              <a:rPr lang="en-GB" sz="1800" b="1">
                <a:solidFill>
                  <a:schemeClr val="tx2"/>
                </a:solidFill>
                <a:highlight>
                  <a:srgbClr val="FFFFFF"/>
                </a:highlight>
              </a:rPr>
              <a:t>Example 1: Automating Email Sorting and Responses with NLP</a:t>
            </a:r>
            <a:endParaRPr lang="en-GB" sz="1800">
              <a:solidFill>
                <a:schemeClr val="tx2"/>
              </a:solidFill>
            </a:endParaRPr>
          </a:p>
          <a:p>
            <a:pPr>
              <a:lnSpc>
                <a:spcPct val="100000"/>
              </a:lnSpc>
              <a:buClr>
                <a:srgbClr val="FFFFFF"/>
              </a:buClr>
            </a:pPr>
            <a:r>
              <a:rPr lang="en-GB" sz="1800">
                <a:solidFill>
                  <a:schemeClr val="tx2"/>
                </a:solidFill>
                <a:highlight>
                  <a:srgbClr val="FFFFFF"/>
                </a:highlight>
                <a:ea typeface="+mn-lt"/>
                <a:cs typeface="+mn-lt"/>
              </a:rPr>
              <a:t>Just sorting through my inbox used to take up an absurd amount of my time. In order to resolve this, I wrote a Python script that uses IMAP to access my email account, scans incoming messages, uses an NLP model to categorize them according to keywords, and then directs them to folders (such as “Clients,” “Invoices,” and “Ignore”).</a:t>
            </a:r>
            <a:endParaRPr lang="en-GB" sz="1800">
              <a:solidFill>
                <a:schemeClr val="tx2"/>
              </a:solidFill>
            </a:endParaRPr>
          </a:p>
          <a:p>
            <a:pPr>
              <a:lnSpc>
                <a:spcPct val="100000"/>
              </a:lnSpc>
              <a:buClr>
                <a:srgbClr val="FFFFFF"/>
              </a:buClr>
            </a:pPr>
            <a:endParaRPr lang="en-GB" sz="1800">
              <a:solidFill>
                <a:schemeClr val="tx2"/>
              </a:solidFill>
            </a:endParaRPr>
          </a:p>
        </p:txBody>
      </p:sp>
    </p:spTree>
    <p:extLst>
      <p:ext uri="{BB962C8B-B14F-4D97-AF65-F5344CB8AC3E}">
        <p14:creationId xmlns:p14="http://schemas.microsoft.com/office/powerpoint/2010/main" val="3696936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26C00EC8-C23B-42C0-B72B-A96C15788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6" name="Group 115">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7" name="Straight Connector 116">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08840533-7C95-75EA-D210-E7435EB128DD}"/>
              </a:ext>
            </a:extLst>
          </p:cNvPr>
          <p:cNvPicPr>
            <a:picLocks noGrp="1" noChangeAspect="1"/>
          </p:cNvPicPr>
          <p:nvPr>
            <p:ph idx="1"/>
          </p:nvPr>
        </p:nvPicPr>
        <p:blipFill>
          <a:blip r:embed="rId2"/>
          <a:srcRect r="634"/>
          <a:stretch>
            <a:fillRect/>
          </a:stretch>
        </p:blipFill>
        <p:spPr>
          <a:xfrm>
            <a:off x="-9379" y="10"/>
            <a:ext cx="12168757" cy="6857990"/>
          </a:xfrm>
          <a:custGeom>
            <a:avLst/>
            <a:gdLst/>
            <a:ahLst/>
            <a:cxnLst/>
            <a:rect l="l" t="t" r="r" b="b"/>
            <a:pathLst>
              <a:path w="12142767" h="6858000">
                <a:moveTo>
                  <a:pt x="0" y="0"/>
                </a:moveTo>
                <a:lnTo>
                  <a:pt x="11251490" y="0"/>
                </a:lnTo>
                <a:lnTo>
                  <a:pt x="11255634" y="308191"/>
                </a:lnTo>
                <a:cubicBezTo>
                  <a:pt x="11341049" y="3428907"/>
                  <a:pt x="12695043" y="3532715"/>
                  <a:pt x="11886084" y="6854559"/>
                </a:cubicBezTo>
                <a:lnTo>
                  <a:pt x="7539784" y="6854559"/>
                </a:lnTo>
                <a:lnTo>
                  <a:pt x="7539784" y="6858000"/>
                </a:lnTo>
                <a:lnTo>
                  <a:pt x="0" y="6858000"/>
                </a:lnTo>
                <a:close/>
              </a:path>
            </a:pathLst>
          </a:custGeom>
        </p:spPr>
      </p:pic>
    </p:spTree>
    <p:extLst>
      <p:ext uri="{BB962C8B-B14F-4D97-AF65-F5344CB8AC3E}">
        <p14:creationId xmlns:p14="http://schemas.microsoft.com/office/powerpoint/2010/main" val="2737610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ectangle 52">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ight Triangle 54">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58" name="Straight Connector 57">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8" name="Rectangle 87">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98E5681-E881-F656-371F-E600C71C8509}"/>
              </a:ext>
            </a:extLst>
          </p:cNvPr>
          <p:cNvSpPr>
            <a:spLocks noGrp="1"/>
          </p:cNvSpPr>
          <p:nvPr>
            <p:ph type="title"/>
          </p:nvPr>
        </p:nvSpPr>
        <p:spPr>
          <a:xfrm>
            <a:off x="304804" y="339991"/>
            <a:ext cx="11502142" cy="1499851"/>
          </a:xfrm>
        </p:spPr>
        <p:txBody>
          <a:bodyPr>
            <a:normAutofit/>
          </a:bodyPr>
          <a:lstStyle/>
          <a:p>
            <a:pPr marL="228600" indent="-228600" algn="ctr">
              <a:spcBef>
                <a:spcPts val="1000"/>
              </a:spcBef>
            </a:pPr>
            <a:r>
              <a:rPr lang="en-GB" b="1">
                <a:solidFill>
                  <a:schemeClr val="tx2">
                    <a:alpha val="80000"/>
                  </a:schemeClr>
                </a:solidFill>
                <a:highlight>
                  <a:srgbClr val="FFFFFF"/>
                </a:highlight>
                <a:latin typeface="Avenir Next LT Pro"/>
              </a:rPr>
              <a:t>Example 2: Web Scraping and Report Generation</a:t>
            </a:r>
            <a:endParaRPr lang="en-GB">
              <a:solidFill>
                <a:schemeClr val="tx2">
                  <a:alpha val="80000"/>
                </a:schemeClr>
              </a:solidFill>
              <a:latin typeface="Avenir Next LT Pro"/>
            </a:endParaRPr>
          </a:p>
          <a:p>
            <a:pPr algn="ctr"/>
            <a:endParaRPr lang="en-GB">
              <a:solidFill>
                <a:schemeClr val="tx2">
                  <a:alpha val="80000"/>
                </a:schemeClr>
              </a:solidFill>
              <a:cs typeface="Posterama"/>
            </a:endParaRPr>
          </a:p>
        </p:txBody>
      </p:sp>
      <p:graphicFrame>
        <p:nvGraphicFramePr>
          <p:cNvPr id="47" name="Content Placeholder 2">
            <a:extLst>
              <a:ext uri="{FF2B5EF4-FFF2-40B4-BE49-F238E27FC236}">
                <a16:creationId xmlns:a16="http://schemas.microsoft.com/office/drawing/2014/main" id="{19F3A71D-EF6C-6ACD-1FDE-FCD19800F47C}"/>
              </a:ext>
            </a:extLst>
          </p:cNvPr>
          <p:cNvGraphicFramePr>
            <a:graphicFrameLocks noGrp="1"/>
          </p:cNvGraphicFramePr>
          <p:nvPr>
            <p:ph idx="1"/>
            <p:extLst>
              <p:ext uri="{D42A27DB-BD31-4B8C-83A1-F6EECF244321}">
                <p14:modId xmlns:p14="http://schemas.microsoft.com/office/powerpoint/2010/main" val="260542390"/>
              </p:ext>
            </p:extLst>
          </p:nvPr>
        </p:nvGraphicFramePr>
        <p:xfrm>
          <a:off x="304804" y="2057416"/>
          <a:ext cx="11502135" cy="3976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046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055161B6-21D5-D894-AA0C-029B7CCA6952}"/>
              </a:ext>
            </a:extLst>
          </p:cNvPr>
          <p:cNvPicPr>
            <a:picLocks noGrp="1" noChangeAspect="1"/>
          </p:cNvPicPr>
          <p:nvPr>
            <p:ph idx="1"/>
          </p:nvPr>
        </p:nvPicPr>
        <p:blipFill>
          <a:blip r:embed="rId2"/>
          <a:srcRect r="-1" b="1249"/>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2470483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5E47C9B-631B-BDDC-361D-2D97EEB5D38F}"/>
              </a:ext>
            </a:extLst>
          </p:cNvPr>
          <p:cNvSpPr>
            <a:spLocks noGrp="1"/>
          </p:cNvSpPr>
          <p:nvPr>
            <p:ph type="title"/>
          </p:nvPr>
        </p:nvSpPr>
        <p:spPr>
          <a:xfrm>
            <a:off x="5791200" y="732348"/>
            <a:ext cx="5410199" cy="2240735"/>
          </a:xfrm>
        </p:spPr>
        <p:txBody>
          <a:bodyPr>
            <a:normAutofit/>
          </a:bodyPr>
          <a:lstStyle/>
          <a:p>
            <a:r>
              <a:rPr lang="en-GB" sz="4100" b="1">
                <a:solidFill>
                  <a:schemeClr val="tx2"/>
                </a:solidFill>
                <a:highlight>
                  <a:srgbClr val="FFFFFF"/>
                </a:highlight>
              </a:rPr>
              <a:t>Example 3: Using AI for Decision Support and Summarization</a:t>
            </a:r>
            <a:endParaRPr lang="en-US" sz="4100">
              <a:solidFill>
                <a:schemeClr val="tx2"/>
              </a:solidFill>
            </a:endParaRPr>
          </a:p>
          <a:p>
            <a:endParaRPr lang="en-GB" sz="4100">
              <a:solidFill>
                <a:schemeClr val="tx2"/>
              </a:solidFill>
              <a:cs typeface="Posterama"/>
            </a:endParaRPr>
          </a:p>
        </p:txBody>
      </p:sp>
      <p:pic>
        <p:nvPicPr>
          <p:cNvPr id="7" name="Graphic 6" descr="Subtitles">
            <a:extLst>
              <a:ext uri="{FF2B5EF4-FFF2-40B4-BE49-F238E27FC236}">
                <a16:creationId xmlns:a16="http://schemas.microsoft.com/office/drawing/2014/main" id="{331FCD92-88C7-F438-6FD3-E1FD45D5E9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222" y="978211"/>
            <a:ext cx="5009616" cy="5009616"/>
          </a:xfrm>
          <a:prstGeom prst="rect">
            <a:avLst/>
          </a:prstGeom>
        </p:spPr>
      </p:pic>
      <p:sp>
        <p:nvSpPr>
          <p:cNvPr id="3" name="Content Placeholder 2">
            <a:extLst>
              <a:ext uri="{FF2B5EF4-FFF2-40B4-BE49-F238E27FC236}">
                <a16:creationId xmlns:a16="http://schemas.microsoft.com/office/drawing/2014/main" id="{38A907D1-D30E-FAD9-C883-AD71CCD2BD93}"/>
              </a:ext>
            </a:extLst>
          </p:cNvPr>
          <p:cNvSpPr>
            <a:spLocks noGrp="1"/>
          </p:cNvSpPr>
          <p:nvPr>
            <p:ph idx="1"/>
          </p:nvPr>
        </p:nvSpPr>
        <p:spPr>
          <a:xfrm>
            <a:off x="5791200" y="3264832"/>
            <a:ext cx="5410199" cy="2980124"/>
          </a:xfrm>
        </p:spPr>
        <p:txBody>
          <a:bodyPr vert="horz" lIns="91440" tIns="45720" rIns="91440" bIns="45720" rtlCol="0" anchor="t">
            <a:normAutofit/>
          </a:bodyPr>
          <a:lstStyle/>
          <a:p>
            <a:r>
              <a:rPr lang="en-GB" sz="1800">
                <a:solidFill>
                  <a:schemeClr val="tx2"/>
                </a:solidFill>
                <a:highlight>
                  <a:srgbClr val="FFFFFF"/>
                </a:highlight>
                <a:ea typeface="+mn-lt"/>
                <a:cs typeface="+mn-lt"/>
              </a:rPr>
              <a:t>When reviewing lengthy strategy documents or call transcripts, I often needed to condense them for quick action. Instead of skimming, I built a script using </a:t>
            </a:r>
            <a:r>
              <a:rPr lang="en-GB" sz="1800" b="1">
                <a:solidFill>
                  <a:schemeClr val="tx2"/>
                </a:solidFill>
                <a:highlight>
                  <a:srgbClr val="FFFFFF"/>
                </a:highlight>
                <a:ea typeface="+mn-lt"/>
                <a:cs typeface="+mn-lt"/>
              </a:rPr>
              <a:t>OpenAI’s GPT API</a:t>
            </a:r>
            <a:r>
              <a:rPr lang="en-GB" sz="1800">
                <a:solidFill>
                  <a:schemeClr val="tx2"/>
                </a:solidFill>
                <a:highlight>
                  <a:srgbClr val="FFFFFF"/>
                </a:highlight>
                <a:ea typeface="+mn-lt"/>
                <a:cs typeface="+mn-lt"/>
              </a:rPr>
              <a:t> to summarize and highlight key action items.</a:t>
            </a:r>
          </a:p>
          <a:p>
            <a:pPr>
              <a:buClr>
                <a:srgbClr val="FFFFFF"/>
              </a:buClr>
            </a:pPr>
            <a:r>
              <a:rPr lang="en-GB" sz="1800">
                <a:solidFill>
                  <a:schemeClr val="tx2"/>
                </a:solidFill>
                <a:highlight>
                  <a:srgbClr val="FFFFFF"/>
                </a:highlight>
                <a:ea typeface="+mn-lt"/>
                <a:cs typeface="+mn-lt"/>
              </a:rPr>
              <a:t>This script cut down my review time dramatically — from 30 minutes to under 5.</a:t>
            </a:r>
            <a:endParaRPr lang="en-GB" sz="1800">
              <a:solidFill>
                <a:schemeClr val="tx2"/>
              </a:solidFill>
              <a:highlight>
                <a:srgbClr val="FFFFFF"/>
              </a:highlight>
            </a:endParaRPr>
          </a:p>
        </p:txBody>
      </p:sp>
    </p:spTree>
    <p:extLst>
      <p:ext uri="{BB962C8B-B14F-4D97-AF65-F5344CB8AC3E}">
        <p14:creationId xmlns:p14="http://schemas.microsoft.com/office/powerpoint/2010/main" val="1995840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8" name="Group 11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119" name="Straight Connector 11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21710C85-6D3C-23B5-58F3-DA8C00F86F67}"/>
              </a:ext>
            </a:extLst>
          </p:cNvPr>
          <p:cNvPicPr>
            <a:picLocks noGrp="1" noChangeAspect="1"/>
          </p:cNvPicPr>
          <p:nvPr>
            <p:ph idx="1"/>
          </p:nvPr>
        </p:nvPicPr>
        <p:blipFill>
          <a:blip r:embed="rId2"/>
          <a:srcRect t="4669" r="-1" b="-1"/>
          <a:stretch>
            <a:fillRect/>
          </a:stretch>
        </p:blipFill>
        <p:spPr>
          <a:xfrm>
            <a:off x="175917" y="168275"/>
            <a:ext cx="11863679" cy="6531364"/>
          </a:xfrm>
          <a:prstGeom prst="rect">
            <a:avLst/>
          </a:prstGeom>
        </p:spPr>
      </p:pic>
    </p:spTree>
    <p:extLst>
      <p:ext uri="{BB962C8B-B14F-4D97-AF65-F5344CB8AC3E}">
        <p14:creationId xmlns:p14="http://schemas.microsoft.com/office/powerpoint/2010/main" val="3586705713"/>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SineVTI</vt:lpstr>
      <vt:lpstr>Automating Workflows with Python and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Automation Examples</vt:lpstr>
      <vt:lpstr>Example 1: Automating Email Sorting and Responses with NLP </vt:lpstr>
      <vt:lpstr>PowerPoint Presentation</vt:lpstr>
      <vt:lpstr>Example 2: Web Scraping and Report Generation </vt:lpstr>
      <vt:lpstr>PowerPoint Presentation</vt:lpstr>
      <vt:lpstr>Example 3: Using AI for Decision Support and Summarization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102</cp:revision>
  <dcterms:created xsi:type="dcterms:W3CDTF">2013-07-15T20:26:40Z</dcterms:created>
  <dcterms:modified xsi:type="dcterms:W3CDTF">2026-08-19T07:43:52Z</dcterms:modified>
</cp:coreProperties>
</file>